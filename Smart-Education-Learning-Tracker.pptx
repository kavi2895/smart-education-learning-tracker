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73" r:id="rId7"/>
    <p:sldId id="261" r:id="rId8"/>
    <p:sldId id="262" r:id="rId9"/>
    <p:sldId id="265" r:id="rId10"/>
    <p:sldId id="274" r:id="rId11"/>
    <p:sldId id="275" r:id="rId12"/>
    <p:sldId id="280" r:id="rId13"/>
    <p:sldId id="277" r:id="rId14"/>
    <p:sldId id="278" r:id="rId15"/>
    <p:sldId id="281" r:id="rId16"/>
    <p:sldId id="279" r:id="rId17"/>
    <p:sldId id="268" r:id="rId18"/>
    <p:sldId id="269" r:id="rId19"/>
    <p:sldId id="270" r:id="rId20"/>
    <p:sldId id="271" r:id="rId21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86352F-83D2-44DE-95C0-C8C4392A5F49}" v="10" dt="2025-10-25T17:18:43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94660" autoAdjust="0"/>
  </p:normalViewPr>
  <p:slideViewPr>
    <p:cSldViewPr snapToGrid="0">
      <p:cViewPr varScale="1">
        <p:scale>
          <a:sx n="78" d="100"/>
          <a:sy n="78" d="100"/>
        </p:scale>
        <p:origin x="797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 noChangeAspect="1"/>
          </p:cNvSpPr>
          <p:nvPr/>
        </p:nvSpPr>
        <p:spPr>
          <a:xfrm>
            <a:off x="231140" y="243839"/>
            <a:ext cx="11724640" cy="637793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8" name="矩形"/>
          <p:cNvSpPr>
            <a:spLocks noChangeAspect="1"/>
          </p:cNvSpPr>
          <p:nvPr/>
        </p:nvSpPr>
        <p:spPr>
          <a:xfrm>
            <a:off x="231140" y="243839"/>
            <a:ext cx="11724640" cy="637793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" name="文本框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200" b="1" i="0" u="none" strike="noStrike" kern="1200" cap="all" spc="0" baseline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Click to edit Master title style</a:t>
            </a:r>
            <a:endParaRPr lang="zh-CN" altLang="en-US" sz="7200" b="1" i="0" u="none" strike="noStrike" kern="1200" cap="all" spc="0" baseline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10" name="文本框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59" cy="13881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Click to edit Master subtitle style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dt" idx="10"/>
          </p:nvPr>
        </p:nvSpPr>
        <p:spPr>
          <a:xfrm>
            <a:off x="1142996" y="6223827"/>
            <a:ext cx="2329074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Corbel" panose="020B0503020204020204" charset="0"/>
            </a:endParaRPr>
          </a:p>
        </p:txBody>
      </p:sp>
      <p:sp>
        <p:nvSpPr>
          <p:cNvPr id="12" name="文本框"/>
          <p:cNvSpPr>
            <a:spLocks noGrp="1"/>
          </p:cNvSpPr>
          <p:nvPr>
            <p:ph type="ftr"/>
          </p:nvPr>
        </p:nvSpPr>
        <p:spPr>
          <a:xfrm>
            <a:off x="3949148" y="6223827"/>
            <a:ext cx="4717774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Corbel" panose="020B0503020204020204" charset="0"/>
            </a:endParaRPr>
          </a:p>
        </p:txBody>
      </p:sp>
      <p:sp>
        <p:nvSpPr>
          <p:cNvPr id="13" name="文本框"/>
          <p:cNvSpPr>
            <a:spLocks noGrp="1"/>
          </p:cNvSpPr>
          <p:nvPr>
            <p:ph type="sldNum"/>
          </p:nvPr>
        </p:nvSpPr>
        <p:spPr>
          <a:xfrm>
            <a:off x="9329530" y="6223827"/>
            <a:ext cx="1706217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Corbel" panose="020B0503020204020204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Corbel" panose="020B0503020204020204" charset="0"/>
            </a:endParaRPr>
          </a:p>
        </p:txBody>
      </p:sp>
      <p:sp>
        <p:nvSpPr>
          <p:cNvPr id="14" name="直线"/>
          <p:cNvSpPr/>
          <p:nvPr/>
        </p:nvSpPr>
        <p:spPr>
          <a:xfrm>
            <a:off x="1978660" y="3733800"/>
            <a:ext cx="8229600" cy="0"/>
          </a:xfrm>
          <a:prstGeom prst="line">
            <a:avLst/>
          </a:prstGeom>
          <a:noFill/>
          <a:ln w="10000" cap="flat" cmpd="sng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"/>
          <p:cNvSpPr>
            <a:spLocks noChangeAspect="1"/>
          </p:cNvSpPr>
          <p:nvPr/>
        </p:nvSpPr>
        <p:spPr>
          <a:xfrm>
            <a:off x="231140" y="243839"/>
            <a:ext cx="11724640" cy="637793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8" name="文本框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9" name="文本框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0" cy="4038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20" name="文本框"/>
          <p:cNvSpPr>
            <a:spLocks noGrp="1"/>
          </p:cNvSpPr>
          <p:nvPr>
            <p:ph type="dt" idx="10"/>
          </p:nvPr>
        </p:nvSpPr>
        <p:spPr>
          <a:xfrm>
            <a:off x="1142996" y="6223827"/>
            <a:ext cx="2329074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l"/>
            <a:endParaRPr lang="zh-CN" altLang="en-US" sz="120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Corbel" panose="020B0503020204020204" charset="0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ftr"/>
          </p:nvPr>
        </p:nvSpPr>
        <p:spPr>
          <a:xfrm>
            <a:off x="3949148" y="6223827"/>
            <a:ext cx="4717774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ctr"/>
            <a:endParaRPr lang="zh-CN" altLang="en-US" sz="120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Corbel" panose="020B0503020204020204" charset="0"/>
            </a:endParaRPr>
          </a:p>
        </p:txBody>
      </p:sp>
      <p:sp>
        <p:nvSpPr>
          <p:cNvPr id="22" name="文本框"/>
          <p:cNvSpPr>
            <a:spLocks noGrp="1"/>
          </p:cNvSpPr>
          <p:nvPr>
            <p:ph type="sldNum"/>
          </p:nvPr>
        </p:nvSpPr>
        <p:spPr>
          <a:xfrm>
            <a:off x="9329530" y="6223827"/>
            <a:ext cx="1706217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Corbel" panose="020B0503020204020204" charset="0"/>
              </a:rPr>
              <a:t>‹#›</a:t>
            </a:fld>
            <a:endParaRPr lang="zh-CN" altLang="en-US" sz="120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Corbel" panose="020B050302020402020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"/>
          <p:cNvSpPr>
            <a:spLocks noChangeAspect="1"/>
          </p:cNvSpPr>
          <p:nvPr/>
        </p:nvSpPr>
        <p:spPr>
          <a:xfrm>
            <a:off x="231140" y="243839"/>
            <a:ext cx="11724640" cy="637793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50" name="文本框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51" name="文本框"/>
          <p:cNvSpPr>
            <a:spLocks noGrp="1"/>
          </p:cNvSpPr>
          <p:nvPr>
            <p:ph type="dt" idx="10"/>
          </p:nvPr>
        </p:nvSpPr>
        <p:spPr>
          <a:xfrm>
            <a:off x="1142996" y="6223827"/>
            <a:ext cx="2329074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l"/>
            <a:endParaRPr lang="zh-CN" altLang="en-US" sz="120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Corbel" panose="020B0503020204020204" charset="0"/>
            </a:endParaRPr>
          </a:p>
        </p:txBody>
      </p:sp>
      <p:sp>
        <p:nvSpPr>
          <p:cNvPr id="52" name="文本框"/>
          <p:cNvSpPr>
            <a:spLocks noGrp="1"/>
          </p:cNvSpPr>
          <p:nvPr>
            <p:ph type="ftr"/>
          </p:nvPr>
        </p:nvSpPr>
        <p:spPr>
          <a:xfrm>
            <a:off x="3949148" y="6223827"/>
            <a:ext cx="4717774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ctr"/>
            <a:endParaRPr lang="zh-CN" altLang="en-US" sz="120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Corbel" panose="020B0503020204020204" charset="0"/>
            </a:endParaRPr>
          </a:p>
        </p:txBody>
      </p:sp>
      <p:sp>
        <p:nvSpPr>
          <p:cNvPr id="53" name="文本框"/>
          <p:cNvSpPr>
            <a:spLocks noGrp="1"/>
          </p:cNvSpPr>
          <p:nvPr>
            <p:ph type="sldNum"/>
          </p:nvPr>
        </p:nvSpPr>
        <p:spPr>
          <a:xfrm>
            <a:off x="9329530" y="6223827"/>
            <a:ext cx="1706217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Corbel" panose="020B0503020204020204" charset="0"/>
              </a:rPr>
              <a:t>‹#›</a:t>
            </a:fld>
            <a:endParaRPr lang="zh-CN" altLang="en-US" sz="120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Corbel" panose="020B050302020402020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 noChangeAspect="1"/>
          </p:cNvSpPr>
          <p:nvPr/>
        </p:nvSpPr>
        <p:spPr>
          <a:xfrm>
            <a:off x="231140" y="243839"/>
            <a:ext cx="11724640" cy="637793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3" name="文本框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0" cy="4038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idx="2"/>
          </p:nvPr>
        </p:nvSpPr>
        <p:spPr>
          <a:xfrm>
            <a:off x="1142996" y="6223827"/>
            <a:ext cx="2329074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l"/>
            <a:fld id="{CAD2D6BD-DE1B-4B5F-8B41-2702339687B9}" type="datetime1">
              <a:rPr lang="en-US" altLang="zh-CN" sz="120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Corbel" panose="020B0503020204020204" charset="0"/>
              </a:rPr>
              <a:t>3/9/2026</a:t>
            </a:fld>
            <a:endParaRPr lang="zh-CN" altLang="en-US" sz="120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Corbel" panose="020B0503020204020204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idx="3"/>
          </p:nvPr>
        </p:nvSpPr>
        <p:spPr>
          <a:xfrm>
            <a:off x="3949148" y="6223827"/>
            <a:ext cx="4717774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ctr"/>
            <a:endParaRPr lang="zh-CN" altLang="en-US" sz="120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Corbel" panose="020B0503020204020204" charset="0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idx="4"/>
          </p:nvPr>
        </p:nvSpPr>
        <p:spPr>
          <a:xfrm>
            <a:off x="9329530" y="6223827"/>
            <a:ext cx="1706217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Corbel" panose="020B0503020204020204" charset="0"/>
              </a:rPr>
              <a:t>‹#›</a:t>
            </a:fld>
            <a:endParaRPr lang="zh-CN" altLang="en-US" sz="120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Corbel" panose="020B050302020402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Corbel" panose="020B0503020204020204" charset="0"/>
          <a:ea typeface="SimSun" panose="02010600030101010101" pitchFamily="2" charset="-122"/>
          <a:cs typeface="Corbel" panose="020B0503020204020204" charset="0"/>
        </a:defRPr>
      </a:lvl1pPr>
    </p:titleStyle>
    <p:bodyStyle>
      <a:lvl1pPr marL="228600" indent="-182880" algn="l" defTabSz="914400" eaLnBrk="1" fontAlgn="auto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anose="020B0503020204020204" charset="0"/>
        <a:buChar char="•"/>
        <a:defRPr sz="2200" kern="1200">
          <a:solidFill>
            <a:schemeClr val="tx1"/>
          </a:solidFill>
          <a:latin typeface="Corbel" panose="020B0503020204020204" charset="0"/>
          <a:ea typeface="SimSun" panose="02010600030101010101" pitchFamily="2" charset="-122"/>
          <a:cs typeface="Corbel" panose="020B0503020204020204" charset="0"/>
        </a:defRPr>
      </a:lvl1pPr>
      <a:lvl2pPr marL="457200" indent="-18288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charset="0"/>
        <a:buChar char="•"/>
        <a:defRPr sz="2000" kern="1200">
          <a:solidFill>
            <a:schemeClr val="tx1"/>
          </a:solidFill>
          <a:latin typeface="Corbel" panose="020B0503020204020204" charset="0"/>
          <a:ea typeface="SimSun" panose="02010600030101010101" pitchFamily="2" charset="-122"/>
          <a:cs typeface="Corbel" panose="020B0503020204020204" charset="0"/>
        </a:defRPr>
      </a:lvl2pPr>
      <a:lvl3pPr marL="731520" indent="-18288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charset="0"/>
        <a:buChar char="•"/>
        <a:defRPr sz="1800" kern="1200">
          <a:solidFill>
            <a:schemeClr val="tx1"/>
          </a:solidFill>
          <a:latin typeface="Corbel" panose="020B0503020204020204" charset="0"/>
          <a:ea typeface="SimSun" panose="02010600030101010101" pitchFamily="2" charset="-122"/>
          <a:cs typeface="Corbel" panose="020B0503020204020204" charset="0"/>
        </a:defRPr>
      </a:lvl3pPr>
      <a:lvl4pPr marL="1005840" indent="-18288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charset="0"/>
        <a:buChar char="•"/>
        <a:defRPr sz="1600" kern="1200">
          <a:solidFill>
            <a:schemeClr val="tx1"/>
          </a:solidFill>
          <a:latin typeface="Corbel" panose="020B0503020204020204" charset="0"/>
          <a:ea typeface="SimSun" panose="02010600030101010101" pitchFamily="2" charset="-122"/>
          <a:cs typeface="Corbel" panose="020B0503020204020204" charset="0"/>
        </a:defRPr>
      </a:lvl4pPr>
      <a:lvl5pPr marL="1280160" indent="-18288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charset="0"/>
        <a:buChar char="•"/>
        <a:defRPr sz="1600" kern="1200">
          <a:solidFill>
            <a:schemeClr val="tx1"/>
          </a:solidFill>
          <a:latin typeface="Corbel" panose="020B0503020204020204" charset="0"/>
          <a:ea typeface="SimSun" panose="02010600030101010101" pitchFamily="2" charset="-122"/>
          <a:cs typeface="Corbel" panose="020B0503020204020204" charset="0"/>
        </a:defRPr>
      </a:lvl5pPr>
      <a:lvl6pPr marL="1600200" indent="-22860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charset="0"/>
        <a:buChar char="•"/>
        <a:defRPr sz="1600" kern="1200">
          <a:solidFill>
            <a:schemeClr val="tx1"/>
          </a:solidFill>
          <a:latin typeface="Corbel" panose="020B0503020204020204" charset="0"/>
          <a:ea typeface="SimSun" panose="02010600030101010101" pitchFamily="2" charset="-122"/>
          <a:cs typeface="Corbel" panose="020B0503020204020204" charset="0"/>
        </a:defRPr>
      </a:lvl6pPr>
      <a:lvl7pPr marL="1899920" indent="-22860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charset="0"/>
        <a:buChar char="•"/>
        <a:defRPr sz="1600" kern="1200">
          <a:solidFill>
            <a:schemeClr val="tx1"/>
          </a:solidFill>
          <a:latin typeface="Corbel" panose="020B0503020204020204" charset="0"/>
          <a:ea typeface="SimSun" panose="02010600030101010101" pitchFamily="2" charset="-122"/>
          <a:cs typeface="Corbel" panose="020B0503020204020204" charset="0"/>
        </a:defRPr>
      </a:lvl7pPr>
      <a:lvl8pPr marL="2199640" indent="-22860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charset="0"/>
        <a:buChar char="•"/>
        <a:defRPr sz="1600" kern="1200">
          <a:solidFill>
            <a:schemeClr val="tx1"/>
          </a:solidFill>
          <a:latin typeface="Corbel" panose="020B0503020204020204" charset="0"/>
          <a:ea typeface="SimSun" panose="02010600030101010101" pitchFamily="2" charset="-122"/>
          <a:cs typeface="Corbel" panose="020B0503020204020204" charset="0"/>
        </a:defRPr>
      </a:lvl8pPr>
      <a:lvl9pPr marL="2199640" indent="-22860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anose="020B0503020204020204" charset="0"/>
        <a:buChar char="•"/>
        <a:defRPr sz="1600" kern="1200">
          <a:solidFill>
            <a:schemeClr val="tx1"/>
          </a:solidFill>
          <a:latin typeface="Corbel" panose="020B0503020204020204" charset="0"/>
          <a:ea typeface="SimSun" panose="02010600030101010101" pitchFamily="2" charset="-122"/>
          <a:cs typeface="Corbel" panose="020B0503020204020204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"/>
          <p:cNvSpPr>
            <a:spLocks noGrp="1"/>
          </p:cNvSpPr>
          <p:nvPr>
            <p:ph type="ctrTitle"/>
          </p:nvPr>
        </p:nvSpPr>
        <p:spPr>
          <a:xfrm>
            <a:off x="390089" y="2964426"/>
            <a:ext cx="11724015" cy="7178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all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Stored </a:t>
            </a:r>
            <a:r>
              <a:rPr lang="en-US" altLang="zh-CN" sz="3200" b="1" cap="all" dirty="0">
                <a:cs typeface="Lucida Sans" panose="020B0602030504020204"/>
              </a:rPr>
              <a:t>GRAIN</a:t>
            </a:r>
            <a:r>
              <a:rPr lang="en-US" altLang="zh-CN" sz="3200" b="1" i="0" u="none" strike="noStrike" kern="1200" cap="all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protection &amp; spoilage alert system</a:t>
            </a:r>
            <a:endParaRPr lang="zh-CN" altLang="en-US" sz="3200" b="1" i="0" u="none" strike="noStrike" kern="1200" cap="all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17" name="文本框"/>
          <p:cNvSpPr>
            <a:spLocks noGrp="1"/>
          </p:cNvSpPr>
          <p:nvPr>
            <p:ph type="subTitle" idx="1"/>
          </p:nvPr>
        </p:nvSpPr>
        <p:spPr>
          <a:xfrm>
            <a:off x="775425" y="3893574"/>
            <a:ext cx="10953345" cy="7178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                                                   </a:t>
            </a:r>
          </a:p>
          <a:p>
            <a:pPr marL="0" indent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lang="en-US" altLang="zh-CN" sz="2800" b="1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0" indent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                                                                                        </a:t>
            </a:r>
          </a:p>
          <a:p>
            <a:pPr marL="0" indent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                                                                         </a:t>
            </a:r>
          </a:p>
          <a:p>
            <a:pPr marL="0" indent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endParaRPr lang="zh-CN" altLang="en-US" sz="2800" b="1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"/>
          <p:cNvSpPr>
            <a:spLocks noGrp="1"/>
          </p:cNvSpPr>
          <p:nvPr>
            <p:ph type="title"/>
          </p:nvPr>
        </p:nvSpPr>
        <p:spPr>
          <a:xfrm>
            <a:off x="425246" y="314632"/>
            <a:ext cx="9875520" cy="13563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Introduction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(Problem Identification):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1202055" y="1757680"/>
            <a:ext cx="10332720" cy="4013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altLang="zh-CN" sz="2800" dirty="0">
                <a:cs typeface="Lucida Sans" panose="020B0602030504020204"/>
              </a:rPr>
              <a:t>Grains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are vulnerable to Temperature , Humidity , and Harmful Gases 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zh-CN" sz="2800" dirty="0">
                <a:cs typeface="Lucida Sans" panose="020B0602030504020204"/>
              </a:rPr>
              <a:t>Grain quality depends on proper storage conditions.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zh-CN" sz="2800" dirty="0">
                <a:cs typeface="Lucida Sans" panose="020B0602030504020204"/>
              </a:rPr>
              <a:t>High temperature or humidity can cause spoilage, fungus, and insect growth.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zh-CN" sz="2800" dirty="0">
                <a:cs typeface="Lucida Sans" panose="020B0602030504020204"/>
              </a:rPr>
              <a:t>To overcome this, a simple IoT-based alert system is designed using ESP32 and Blynk app</a:t>
            </a:r>
            <a:endParaRPr lang="en-US" altLang="zh-CN" sz="2800" b="0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45720" indent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None/>
            </a:pPr>
            <a:endParaRPr lang="zh-CN" altLang="en-US" sz="3600" b="0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866390" y="6015990"/>
            <a:ext cx="7268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THIRD REVIEW-V.S.B ENGINEERING COLLEGE,KARUR.</a:t>
            </a:r>
            <a:endParaRPr lang="en-IN" alt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"/>
          <p:cNvSpPr>
            <a:spLocks noGrp="1"/>
          </p:cNvSpPr>
          <p:nvPr>
            <p:ph type="title"/>
          </p:nvPr>
        </p:nvSpPr>
        <p:spPr>
          <a:xfrm>
            <a:off x="493852" y="1095737"/>
            <a:ext cx="11204295" cy="4321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Objectives :</a:t>
            </a:r>
            <a:endParaRPr lang="zh-CN" altLang="en-US" sz="4400" b="1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7" name="文本框"/>
          <p:cNvSpPr>
            <a:spLocks noGrp="1"/>
          </p:cNvSpPr>
          <p:nvPr>
            <p:ph type="body" idx="1"/>
          </p:nvPr>
        </p:nvSpPr>
        <p:spPr>
          <a:xfrm>
            <a:off x="1076447" y="2071868"/>
            <a:ext cx="10453498" cy="40387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228600" indent="-182880" algn="l">
              <a:lnSpc>
                <a:spcPct val="79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altLang="zh-CN" sz="32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To </a:t>
            </a:r>
            <a:r>
              <a:rPr lang="en-US" altLang="zh-CN" sz="320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monitor grain storage conditions </a:t>
            </a:r>
            <a:r>
              <a:rPr lang="en-US" altLang="zh-CN" sz="32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in real time.</a:t>
            </a:r>
          </a:p>
          <a:p>
            <a:pPr>
              <a:lnSpc>
                <a:spcPct val="79000"/>
              </a:lnSpc>
              <a:buFont typeface="Wingdings" panose="05000000000000000000" pitchFamily="2" charset="2"/>
              <a:buChar char="v"/>
            </a:pPr>
            <a:r>
              <a:rPr lang="en-US" altLang="zh-CN" sz="3200" dirty="0">
                <a:cs typeface="Lucida Sans" panose="020B0602030504020204"/>
              </a:rPr>
              <a:t>To continuously monitor temperature and humidity of stored grains.</a:t>
            </a:r>
          </a:p>
          <a:p>
            <a:pPr>
              <a:lnSpc>
                <a:spcPct val="79000"/>
              </a:lnSpc>
              <a:buFont typeface="Wingdings" panose="05000000000000000000" pitchFamily="2" charset="2"/>
              <a:buChar char="v"/>
            </a:pPr>
            <a:r>
              <a:rPr lang="en-US" altLang="zh-CN" sz="3200" dirty="0">
                <a:cs typeface="Lucida Sans" panose="020B0602030504020204"/>
              </a:rPr>
              <a:t>To alert farmer when values exceed safe limits.</a:t>
            </a:r>
          </a:p>
          <a:p>
            <a:pPr>
              <a:lnSpc>
                <a:spcPct val="79000"/>
              </a:lnSpc>
              <a:buFont typeface="Wingdings" panose="05000000000000000000" pitchFamily="2" charset="2"/>
              <a:buChar char="v"/>
            </a:pPr>
            <a:r>
              <a:rPr lang="en-US" altLang="zh-CN" sz="3200" dirty="0">
                <a:cs typeface="Lucida Sans" panose="020B0602030504020204"/>
              </a:rPr>
              <a:t>To send real-time notification via Blynk app.</a:t>
            </a:r>
          </a:p>
          <a:p>
            <a:pPr>
              <a:lnSpc>
                <a:spcPct val="79000"/>
              </a:lnSpc>
              <a:buFont typeface="Wingdings" panose="05000000000000000000" pitchFamily="2" charset="2"/>
              <a:buChar char="v"/>
            </a:pPr>
            <a:r>
              <a:rPr lang="en-US" altLang="zh-CN" sz="3200" dirty="0">
                <a:cs typeface="Lucida Sans" panose="020B0602030504020204"/>
              </a:rPr>
              <a:t>To make it cost-effective and partially solar powered.</a:t>
            </a: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45720" indent="0" algn="l">
              <a:lnSpc>
                <a:spcPct val="79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     </a:t>
            </a:r>
          </a:p>
          <a:p>
            <a:pPr marL="45720" indent="0" algn="l">
              <a:lnSpc>
                <a:spcPct val="79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zh-CN" altLang="en-US" sz="3200" b="0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60777" y="6110605"/>
            <a:ext cx="94373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ym typeface="+mn-ea"/>
              </a:rPr>
              <a:t>     </a:t>
            </a:r>
            <a:r>
              <a:rPr lang="en-IN" altLang="en-US" dirty="0">
                <a:latin typeface="Baskerville Old Face" panose="02020602080505020303" charset="0"/>
                <a:cs typeface="Baskerville Old Face" panose="02020602080505020303" charset="0"/>
                <a:sym typeface="+mn-ea"/>
              </a:rPr>
              <a:t>            </a:t>
            </a:r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THIRD REVIEW-V.S.B ENGINEERING COLLEGE,KARUR.</a:t>
            </a:r>
            <a:endParaRPr lang="en-IN" alt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alt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"/>
          <p:cNvSpPr>
            <a:spLocks noGrp="1"/>
          </p:cNvSpPr>
          <p:nvPr>
            <p:ph type="title"/>
          </p:nvPr>
        </p:nvSpPr>
        <p:spPr>
          <a:xfrm>
            <a:off x="503902" y="1012722"/>
            <a:ext cx="9875520" cy="90456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Abstract:</a:t>
            </a:r>
            <a:endParaRPr lang="zh-CN" altLang="en-US" sz="4400" b="1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9" name="文本框"/>
          <p:cNvSpPr>
            <a:spLocks noGrp="1"/>
          </p:cNvSpPr>
          <p:nvPr>
            <p:ph type="body" idx="1"/>
          </p:nvPr>
        </p:nvSpPr>
        <p:spPr>
          <a:xfrm>
            <a:off x="1159565" y="2018982"/>
            <a:ext cx="9872870" cy="40508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This project focuses on </a:t>
            </a:r>
            <a:r>
              <a:rPr lang="en-US" altLang="zh-CN" sz="2800" b="1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Protecting stored grains 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using </a:t>
            </a:r>
            <a:r>
              <a:rPr lang="en-US" altLang="zh-CN" sz="2800" dirty="0">
                <a:cs typeface="Lucida Sans" panose="020B0602030504020204"/>
              </a:rPr>
              <a:t>a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</a:t>
            </a:r>
            <a:r>
              <a:rPr lang="en-US" altLang="zh-CN" sz="2800" b="1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Hybrid monitoring system , 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both </a:t>
            </a:r>
            <a:r>
              <a:rPr lang="en-US" altLang="zh-CN" sz="2800" b="1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IoT &amp; offline. 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We use an</a:t>
            </a:r>
            <a:r>
              <a:rPr lang="en-US" altLang="zh-CN" sz="2800" b="1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ESP32microcontroller ,   temperature &amp; humidity sensors  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to continuously monitor grain storage conditions.</a:t>
            </a:r>
            <a:endParaRPr lang="en-US" altLang="zh-CN" sz="2800" b="1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If abnormal conditions like </a:t>
            </a:r>
            <a:r>
              <a:rPr lang="en-US" altLang="zh-CN" sz="2800" b="1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excess moisture or heat  formation 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are detected ,the system </a:t>
            </a:r>
            <a:r>
              <a:rPr lang="en-US" altLang="zh-CN" sz="2800" b="1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sends instant alerts.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This helps from </a:t>
            </a:r>
            <a:r>
              <a:rPr lang="en-US" altLang="zh-CN" sz="2800" b="1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preventing  Spoilage and losses.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791460" y="6171565"/>
            <a:ext cx="6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THIRD REVIEW-V.S.B ENGINEERING COLLEGE,KARUR.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5CA80-F7F1-4D3D-11A4-91CB4CE4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392" y="528577"/>
            <a:ext cx="9875520" cy="1057154"/>
          </a:xfrm>
        </p:spPr>
        <p:txBody>
          <a:bodyPr/>
          <a:lstStyle/>
          <a:p>
            <a:r>
              <a:rPr lang="en-IN" b="1" dirty="0"/>
              <a:t>Existing System: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E779A-0736-3C25-0B56-063F41497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Existing System, Previous systems had advanced prevention methods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Those systems are expensive and power consuming.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Required more components and complex circuitry.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/>
              <a:t>Components may damage sometimes.</a:t>
            </a:r>
          </a:p>
          <a:p>
            <a:pPr marL="45720" indent="0">
              <a:buNone/>
            </a:pP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14914-663E-D3DC-5169-463A4A653FEF}"/>
              </a:ext>
            </a:extLst>
          </p:cNvPr>
          <p:cNvSpPr txBox="1"/>
          <p:nvPr/>
        </p:nvSpPr>
        <p:spPr>
          <a:xfrm>
            <a:off x="2851355" y="5960091"/>
            <a:ext cx="6862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THIRD REVIEW-V.S.B ENGINEERING COLLEGE,KARUR.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1006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9967C-26A9-3068-4420-2B521FE40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795" y="343382"/>
            <a:ext cx="9875520" cy="1219200"/>
          </a:xfrm>
        </p:spPr>
        <p:txBody>
          <a:bodyPr/>
          <a:lstStyle/>
          <a:p>
            <a:r>
              <a:rPr lang="en-IN" b="1" dirty="0"/>
              <a:t>Proposed System: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CEA89-1EEA-B7F1-1541-C9467C408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Proposed System simple, low-cost solution using ESP32 microcontroller.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DHT22 sensor detects temperature and humidity.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When unsafe level detected.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Buzzer alerts locally.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Blynk app sends mobile notification.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Powered by solar panel for eco-friendly operation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C91512-7C1B-1B36-F417-F5CB755C0AE5}"/>
              </a:ext>
            </a:extLst>
          </p:cNvPr>
          <p:cNvSpPr txBox="1"/>
          <p:nvPr/>
        </p:nvSpPr>
        <p:spPr>
          <a:xfrm>
            <a:off x="2998839" y="6096000"/>
            <a:ext cx="761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THIRD REVIEW-V.S.B ENGINEERING COLLEGE,KARUR.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082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"/>
          <p:cNvSpPr>
            <a:spLocks noGrp="1"/>
          </p:cNvSpPr>
          <p:nvPr>
            <p:ph type="title"/>
          </p:nvPr>
        </p:nvSpPr>
        <p:spPr>
          <a:xfrm>
            <a:off x="517388" y="302999"/>
            <a:ext cx="10648130" cy="91234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Working Principle:</a:t>
            </a:r>
            <a:endParaRPr lang="zh-CN" altLang="en-US" sz="4400" b="1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33" name="文本框"/>
          <p:cNvSpPr>
            <a:spLocks noGrp="1"/>
          </p:cNvSpPr>
          <p:nvPr>
            <p:ph type="body" idx="1"/>
          </p:nvPr>
        </p:nvSpPr>
        <p:spPr>
          <a:xfrm>
            <a:off x="1535523" y="1354238"/>
            <a:ext cx="9872870" cy="4398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Start the System.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The ESP32 collects data from sensors.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If temperature, humidity, or gas levels go beyond the threshold Triggers buzzer/LED alert.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Compare values with safe range </a:t>
            </a:r>
          </a:p>
          <a:p>
            <a:pPr marL="45720" indent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                   If safe-&gt;Display “All OK”</a:t>
            </a:r>
          </a:p>
          <a:p>
            <a:pPr marL="45720" indent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                   If unsafe -&gt; Trigger buzzer + IoT  Alert.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Farmer/warehouse owner receives an instant notification.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Repeat  Continuously.</a:t>
            </a:r>
          </a:p>
          <a:p>
            <a:pPr marL="45720" indent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45720" indent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alt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  THIRD REVIEW-V.S.B ENGINEERING COLLEGE,KARUR.</a:t>
            </a:r>
          </a:p>
          <a:p>
            <a:pPr marL="45720" indent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45720" indent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lang="en-US" altLang="zh-CN" sz="2800" b="0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"/>
          <p:cNvSpPr>
            <a:spLocks noGrp="1"/>
          </p:cNvSpPr>
          <p:nvPr>
            <p:ph type="title"/>
          </p:nvPr>
        </p:nvSpPr>
        <p:spPr>
          <a:xfrm>
            <a:off x="405580" y="334297"/>
            <a:ext cx="9875520" cy="13563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cs typeface="Lucida Sans" panose="020B0602030504020204"/>
              </a:rPr>
              <a:t>Block Diagram:</a:t>
            </a:r>
            <a:endParaRPr lang="zh-CN" altLang="en-US" sz="4400" b="1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938227" y="6154370"/>
            <a:ext cx="690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THIRD REVIEW-V.S.B ENGINEERING COLLEGE,KARUR.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6ED823-01F4-76C1-7F94-034AE00F3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173" y="334298"/>
            <a:ext cx="3454195" cy="5810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"/>
          <p:cNvSpPr>
            <a:spLocks noGrp="1"/>
          </p:cNvSpPr>
          <p:nvPr>
            <p:ph type="title"/>
          </p:nvPr>
        </p:nvSpPr>
        <p:spPr>
          <a:xfrm>
            <a:off x="332772" y="488936"/>
            <a:ext cx="9875520" cy="13563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Components Used:</a:t>
            </a:r>
            <a:endParaRPr lang="zh-CN" altLang="en-US" sz="4400" b="1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41" name="文本框"/>
          <p:cNvSpPr>
            <a:spLocks noGrp="1"/>
          </p:cNvSpPr>
          <p:nvPr>
            <p:ph type="body" idx="1"/>
          </p:nvPr>
        </p:nvSpPr>
        <p:spPr>
          <a:xfrm>
            <a:off x="1785992" y="1961043"/>
            <a:ext cx="9872870" cy="34906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ESP32 → Main IoT microcontroller(IoT &amp; offline).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DHT22 Sensor → Measures temperature &amp; humidity.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Buzzer / LED → Local alert system.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Buzzer 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Wi-Fi Module (Built-in ESP32) → Cloud connectivity.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Blynk Dashboard → Displays data &amp; alerts.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endParaRPr lang="zh-CN" altLang="en-US" sz="2000" b="0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777490" y="6144260"/>
            <a:ext cx="7889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THIRD REVIEW-V.S.B ENGINEERING COLLEGE,KARUR.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C2D0-ED9B-7D94-D7D7-028C4EC49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07" y="693668"/>
            <a:ext cx="9875520" cy="1356360"/>
          </a:xfrm>
        </p:spPr>
        <p:txBody>
          <a:bodyPr/>
          <a:lstStyle/>
          <a:p>
            <a:r>
              <a:rPr lang="en-IN" dirty="0"/>
              <a:t>Microcontroller: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B3B49-2D7E-A64D-7F04-8B7985177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536723"/>
            <a:ext cx="9872870" cy="270387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 ESP32 </a:t>
            </a:r>
            <a:r>
              <a:rPr lang="en-IN" b="1" dirty="0"/>
              <a:t>receives sensor data</a:t>
            </a:r>
            <a:r>
              <a:rPr lang="en-IN" dirty="0"/>
              <a:t> (e.g., temperature , humidity 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Send data</a:t>
            </a:r>
            <a:r>
              <a:rPr lang="en-US" dirty="0"/>
              <a:t> to an </a:t>
            </a:r>
            <a:r>
              <a:rPr lang="en-US" b="1" dirty="0"/>
              <a:t>IoT App</a:t>
            </a:r>
            <a:r>
              <a:rPr lang="en-US" dirty="0"/>
              <a:t> or </a:t>
            </a:r>
            <a:r>
              <a:rPr lang="en-US" b="1" dirty="0"/>
              <a:t>cloud server</a:t>
            </a:r>
            <a:r>
              <a:rPr lang="en-US" dirty="0"/>
              <a:t> (like Blynk).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Control connected devices remotely</a:t>
            </a:r>
            <a:r>
              <a:rPr lang="en-IN" dirty="0"/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Monitor sensor readings</a:t>
            </a:r>
            <a:r>
              <a:rPr lang="en-US" dirty="0"/>
              <a:t> online in real time.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can handle multiple sensors simultaneously using its built-in ADC and GPIO pins.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 marL="4572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741D4-B275-DF92-93D3-CC53A09EF012}"/>
              </a:ext>
            </a:extLst>
          </p:cNvPr>
          <p:cNvSpPr txBox="1"/>
          <p:nvPr/>
        </p:nvSpPr>
        <p:spPr>
          <a:xfrm>
            <a:off x="3124841" y="5727290"/>
            <a:ext cx="5909187" cy="737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EDFA2B-3D56-ADC3-E267-1EAAD81C6C5A}"/>
              </a:ext>
            </a:extLst>
          </p:cNvPr>
          <p:cNvSpPr txBox="1"/>
          <p:nvPr/>
        </p:nvSpPr>
        <p:spPr>
          <a:xfrm>
            <a:off x="2683298" y="6063734"/>
            <a:ext cx="6825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THIRD REVIEW-V.S.B ENGINEERING COLLEGE,KARUR.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5578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B79A9-AEF6-394E-2499-CB6526BDF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1" y="629265"/>
            <a:ext cx="9875520" cy="1356360"/>
          </a:xfrm>
        </p:spPr>
        <p:txBody>
          <a:bodyPr/>
          <a:lstStyle/>
          <a:p>
            <a:r>
              <a:rPr lang="en-IN" dirty="0"/>
              <a:t>DHT22 Sensor: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72749-0200-D150-C879-B2D4C79A1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0" cy="349782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Measures </a:t>
            </a:r>
            <a:r>
              <a:rPr lang="en-US" b="1" dirty="0"/>
              <a:t>temperature</a:t>
            </a:r>
            <a:r>
              <a:rPr lang="en-US" dirty="0"/>
              <a:t> and </a:t>
            </a:r>
            <a:r>
              <a:rPr lang="en-US" b="1" dirty="0"/>
              <a:t>relative humidity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Provides a </a:t>
            </a:r>
            <a:r>
              <a:rPr lang="en-US" b="1" dirty="0"/>
              <a:t>digital output</a:t>
            </a:r>
            <a:r>
              <a:rPr lang="en-US" dirty="0"/>
              <a:t> , which makes it easy to interface with microcontrollers like </a:t>
            </a:r>
            <a:r>
              <a:rPr lang="en-US" b="1" dirty="0"/>
              <a:t>ESP32.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Uses a </a:t>
            </a:r>
            <a:r>
              <a:rPr lang="en-US" b="1" dirty="0"/>
              <a:t>single-wire serial interface</a:t>
            </a:r>
            <a:r>
              <a:rPr lang="en-US" dirty="0"/>
              <a:t> to transmit data — simple to connect and requires only one data pin.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Low power consumption</a:t>
            </a:r>
            <a:r>
              <a:rPr lang="en-US" dirty="0"/>
              <a:t>, suitable for battery-powered or solar-powered IoT systems.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Accurate and stable.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54B58D-885A-FAF4-F6E1-5B91E9A0D94B}"/>
              </a:ext>
            </a:extLst>
          </p:cNvPr>
          <p:cNvSpPr txBox="1"/>
          <p:nvPr/>
        </p:nvSpPr>
        <p:spPr>
          <a:xfrm>
            <a:off x="3224979" y="6187440"/>
            <a:ext cx="7315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THIRD REVIEW-V.S.B ENGINEERING COLLEGE,KARUR.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470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CA2CA-BFA9-E15E-C61C-ED7D92F0F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93" y="435569"/>
            <a:ext cx="9875520" cy="1356360"/>
          </a:xfrm>
        </p:spPr>
        <p:txBody>
          <a:bodyPr/>
          <a:lstStyle/>
          <a:p>
            <a:r>
              <a:rPr lang="en-IN" dirty="0"/>
              <a:t>Blynk App: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C7876-C57A-B998-FFD1-9C48A835F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9565" y="2256503"/>
            <a:ext cx="9872870" cy="3269226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Blynk</a:t>
            </a:r>
            <a:r>
              <a:rPr lang="en-IN" dirty="0"/>
              <a:t> is an </a:t>
            </a:r>
            <a:r>
              <a:rPr lang="en-IN" b="1" dirty="0"/>
              <a:t>IoT (Internet of Things) platform</a:t>
            </a:r>
            <a:r>
              <a:rPr lang="en-IN" dirty="0"/>
              <a:t> that allows you to </a:t>
            </a:r>
            <a:r>
              <a:rPr lang="en-IN" b="1" dirty="0"/>
              <a:t>control, monitor, and visualize data</a:t>
            </a:r>
            <a:r>
              <a:rPr lang="en-IN" dirty="0"/>
              <a:t> from hardware devices (like </a:t>
            </a:r>
            <a:r>
              <a:rPr lang="en-IN" b="1" dirty="0"/>
              <a:t>ESP32</a:t>
            </a:r>
            <a:r>
              <a:rPr lang="en-IN" dirty="0"/>
              <a:t>, Arduino, Node MCU, etc.) using a </a:t>
            </a:r>
            <a:r>
              <a:rPr lang="en-IN" b="1" dirty="0"/>
              <a:t>smartphone</a:t>
            </a:r>
            <a:r>
              <a:rPr lang="en-IN" dirty="0"/>
              <a:t> or </a:t>
            </a:r>
            <a:r>
              <a:rPr lang="en-IN" b="1" dirty="0"/>
              <a:t>web dashboard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It’s available for </a:t>
            </a:r>
            <a:r>
              <a:rPr lang="en-US" b="1" dirty="0"/>
              <a:t>Android</a:t>
            </a:r>
            <a:r>
              <a:rPr lang="en-US" dirty="0"/>
              <a:t>, </a:t>
            </a:r>
            <a:r>
              <a:rPr lang="en-US" b="1" dirty="0"/>
              <a:t>iOS</a:t>
            </a:r>
            <a:r>
              <a:rPr lang="en-US" dirty="0"/>
              <a:t>, and </a:t>
            </a:r>
            <a:r>
              <a:rPr lang="en-US" b="1" dirty="0"/>
              <a:t>Web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</a:t>
            </a:r>
            <a:r>
              <a:rPr lang="en-US" b="1" dirty="0"/>
              <a:t>ESP32</a:t>
            </a:r>
            <a:r>
              <a:rPr lang="en-US" dirty="0"/>
              <a:t> collects sensor data → sends it to </a:t>
            </a:r>
            <a:r>
              <a:rPr lang="en-US" b="1" dirty="0"/>
              <a:t>Blynk Cloud</a:t>
            </a:r>
            <a:r>
              <a:rPr lang="en-US" dirty="0"/>
              <a:t> → displayed in </a:t>
            </a:r>
            <a:r>
              <a:rPr lang="en-US" b="1" dirty="0"/>
              <a:t>Blynk App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And commands from the app (like turning ON a buzzer) are sent back to the ESP32 through the cloud.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85F37-3E7C-BB80-BE1C-4FDF3C14E514}"/>
              </a:ext>
            </a:extLst>
          </p:cNvPr>
          <p:cNvSpPr txBox="1"/>
          <p:nvPr/>
        </p:nvSpPr>
        <p:spPr>
          <a:xfrm>
            <a:off x="2890684" y="6302477"/>
            <a:ext cx="7354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THIRD REVIEW-V.S.B ENGINEERING COLLEGE,KARUR.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994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FF0F7-2DB7-8C44-4DC2-49CE00073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519" y="599768"/>
            <a:ext cx="9875520" cy="1356360"/>
          </a:xfrm>
        </p:spPr>
        <p:txBody>
          <a:bodyPr/>
          <a:lstStyle/>
          <a:p>
            <a:r>
              <a:rPr lang="en-IN" b="1" dirty="0"/>
              <a:t>Technical Approach: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E70A8-F694-F3FD-85A9-F0508E13D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9565" y="1956128"/>
            <a:ext cx="9872870" cy="4038600"/>
          </a:xfrm>
        </p:spPr>
        <p:txBody>
          <a:bodyPr/>
          <a:lstStyle/>
          <a:p>
            <a:pPr marL="502920" indent="-457200">
              <a:buFont typeface="+mj-lt"/>
              <a:buAutoNum type="arabicParenR"/>
            </a:pPr>
            <a:r>
              <a:rPr lang="en-US" b="1" dirty="0"/>
              <a:t>Data Collection:</a:t>
            </a:r>
            <a:br>
              <a:rPr lang="en-US" dirty="0"/>
            </a:br>
            <a:r>
              <a:rPr lang="en-US" dirty="0"/>
              <a:t>       The </a:t>
            </a:r>
            <a:r>
              <a:rPr lang="en-US" b="1" dirty="0"/>
              <a:t>DHT22 sensor</a:t>
            </a:r>
            <a:r>
              <a:rPr lang="en-US" dirty="0"/>
              <a:t> measures temperature and humidity inside the grain storage.</a:t>
            </a:r>
          </a:p>
          <a:p>
            <a:pPr marL="502920" indent="-457200">
              <a:buFont typeface="+mj-lt"/>
              <a:buAutoNum type="arabicParenR"/>
            </a:pPr>
            <a:r>
              <a:rPr lang="en-US" b="1" dirty="0"/>
              <a:t>Data Processing: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ESP32</a:t>
            </a:r>
            <a:r>
              <a:rPr lang="en-US" dirty="0"/>
              <a:t> reads the sensor values and compares them with safe limits.</a:t>
            </a:r>
          </a:p>
          <a:p>
            <a:pPr marL="502920" indent="-457200">
              <a:buFont typeface="+mj-lt"/>
              <a:buAutoNum type="arabicParenR"/>
            </a:pPr>
            <a:r>
              <a:rPr lang="en-US" b="1" dirty="0"/>
              <a:t>Alert System:</a:t>
            </a:r>
            <a:br>
              <a:rPr lang="en-US" dirty="0"/>
            </a:br>
            <a:r>
              <a:rPr lang="en-US" dirty="0"/>
              <a:t>If values are unsafe, the </a:t>
            </a:r>
            <a:r>
              <a:rPr lang="en-US" b="1" dirty="0"/>
              <a:t>buzzer</a:t>
            </a:r>
            <a:r>
              <a:rPr lang="en-US" dirty="0"/>
              <a:t> rings and an </a:t>
            </a:r>
            <a:r>
              <a:rPr lang="en-US" b="1" dirty="0"/>
              <a:t>alert message</a:t>
            </a:r>
            <a:r>
              <a:rPr lang="en-US" dirty="0"/>
              <a:t> is sent to the </a:t>
            </a:r>
            <a:r>
              <a:rPr lang="en-US" b="1" dirty="0"/>
              <a:t>Blynk App</a:t>
            </a:r>
            <a:r>
              <a:rPr lang="en-US" dirty="0"/>
              <a:t>.</a:t>
            </a:r>
          </a:p>
          <a:p>
            <a:pPr marL="502920" indent="-457200">
              <a:buFont typeface="+mj-lt"/>
              <a:buAutoNum type="arabicParenR"/>
            </a:pPr>
            <a:r>
              <a:rPr lang="en-US" b="1" dirty="0"/>
              <a:t>Power Supply:</a:t>
            </a:r>
            <a:br>
              <a:rPr lang="en-US" dirty="0"/>
            </a:br>
            <a:r>
              <a:rPr lang="en-US" dirty="0"/>
              <a:t>The system runs on </a:t>
            </a:r>
            <a:r>
              <a:rPr lang="en-US" b="1" dirty="0"/>
              <a:t>solar energy</a:t>
            </a:r>
            <a:r>
              <a:rPr lang="en-US" dirty="0"/>
              <a:t>, ensuring continuous and eco-friendly operation.</a:t>
            </a:r>
          </a:p>
          <a:p>
            <a:pPr marL="502920" indent="-457200">
              <a:buFont typeface="+mj-lt"/>
              <a:buAutoNum type="arabicParenR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1AB0F-BE38-A605-DC98-F1E014B28D43}"/>
              </a:ext>
            </a:extLst>
          </p:cNvPr>
          <p:cNvSpPr txBox="1"/>
          <p:nvPr/>
        </p:nvSpPr>
        <p:spPr>
          <a:xfrm>
            <a:off x="3244645" y="6248400"/>
            <a:ext cx="7069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THIRD REVIEW-V.S.B ENGINEERING COLLEGE,KARUR.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70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C2F8-B8AC-A8C0-4155-4481B90AA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1" y="461010"/>
            <a:ext cx="9875520" cy="1356360"/>
          </a:xfrm>
        </p:spPr>
        <p:txBody>
          <a:bodyPr/>
          <a:lstStyle/>
          <a:p>
            <a:r>
              <a:rPr lang="en-IN" b="1" dirty="0"/>
              <a:t>Viability and Feasibility: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63798-DCCD-77D9-A121-C8E13B9B9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Low-cost components; reduces loss and saves money.</a:t>
            </a:r>
          </a:p>
          <a:p>
            <a:r>
              <a:rPr lang="en-US" dirty="0"/>
              <a:t>Hardware and software easily integrated; solar-powered for reliability.</a:t>
            </a:r>
          </a:p>
          <a:p>
            <a:r>
              <a:rPr lang="en-US" dirty="0"/>
              <a:t>Technically, economically, and socially sustainable solution for grain preservation.</a:t>
            </a:r>
          </a:p>
          <a:p>
            <a:r>
              <a:rPr lang="en-US" dirty="0"/>
              <a:t>Easy to use, automatic operation, minimal training.</a:t>
            </a:r>
          </a:p>
          <a:p>
            <a:r>
              <a:rPr lang="en-US" dirty="0"/>
              <a:t>Eco-friendly and energy-efficient using solar power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CBFB35-0226-7624-0A3E-BE0E6F1D2E55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893820"/>
          <a:ext cx="9872663" cy="365760"/>
        </p:xfrm>
        <a:graphic>
          <a:graphicData uri="http://schemas.openxmlformats.org/drawingml/2006/table">
            <a:tbl>
              <a:tblPr/>
              <a:tblGrid>
                <a:gridCol w="9872663">
                  <a:extLst>
                    <a:ext uri="{9D8B030D-6E8A-4147-A177-3AD203B41FA5}">
                      <a16:colId xmlns:a16="http://schemas.microsoft.com/office/drawing/2014/main" val="2621410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23611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B84DFD-98C2-4F96-4CB9-55E5BC55D294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893820"/>
          <a:ext cx="9872663" cy="365760"/>
        </p:xfrm>
        <a:graphic>
          <a:graphicData uri="http://schemas.openxmlformats.org/drawingml/2006/table">
            <a:tbl>
              <a:tblPr/>
              <a:tblGrid>
                <a:gridCol w="9872663">
                  <a:extLst>
                    <a:ext uri="{9D8B030D-6E8A-4147-A177-3AD203B41FA5}">
                      <a16:colId xmlns:a16="http://schemas.microsoft.com/office/drawing/2014/main" val="36210858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33577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560041-C696-C2E2-5B13-19A757C51F6F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893820"/>
          <a:ext cx="9872663" cy="365760"/>
        </p:xfrm>
        <a:graphic>
          <a:graphicData uri="http://schemas.openxmlformats.org/drawingml/2006/table">
            <a:tbl>
              <a:tblPr/>
              <a:tblGrid>
                <a:gridCol w="9872663">
                  <a:extLst>
                    <a:ext uri="{9D8B030D-6E8A-4147-A177-3AD203B41FA5}">
                      <a16:colId xmlns:a16="http://schemas.microsoft.com/office/drawing/2014/main" val="25403592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37136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31755FE-3717-0EE7-266D-5DE881CAC8D7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893820"/>
          <a:ext cx="9872663" cy="365760"/>
        </p:xfrm>
        <a:graphic>
          <a:graphicData uri="http://schemas.openxmlformats.org/drawingml/2006/table">
            <a:tbl>
              <a:tblPr/>
              <a:tblGrid>
                <a:gridCol w="9872663">
                  <a:extLst>
                    <a:ext uri="{9D8B030D-6E8A-4147-A177-3AD203B41FA5}">
                      <a16:colId xmlns:a16="http://schemas.microsoft.com/office/drawing/2014/main" val="18937174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18692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151836C-6BBD-9EFE-5E01-792CC27D8D5E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893820"/>
          <a:ext cx="9872663" cy="365760"/>
        </p:xfrm>
        <a:graphic>
          <a:graphicData uri="http://schemas.openxmlformats.org/drawingml/2006/table">
            <a:tbl>
              <a:tblPr/>
              <a:tblGrid>
                <a:gridCol w="9872663">
                  <a:extLst>
                    <a:ext uri="{9D8B030D-6E8A-4147-A177-3AD203B41FA5}">
                      <a16:colId xmlns:a16="http://schemas.microsoft.com/office/drawing/2014/main" val="1977331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18031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84E6631-D7B0-3E1D-5F28-DB749FE4D8BA}"/>
              </a:ext>
            </a:extLst>
          </p:cNvPr>
          <p:cNvSpPr txBox="1"/>
          <p:nvPr/>
        </p:nvSpPr>
        <p:spPr>
          <a:xfrm>
            <a:off x="2104103" y="6248400"/>
            <a:ext cx="9999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THIRD REVIEW-V.S.B ENGINEERING COLLEGE,KARUR.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7745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E23D-B2EC-5A94-F4D6-C46220BF6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" y="403122"/>
            <a:ext cx="9875520" cy="1356360"/>
          </a:xfrm>
        </p:spPr>
        <p:txBody>
          <a:bodyPr/>
          <a:lstStyle/>
          <a:p>
            <a:r>
              <a:rPr lang="en-IN" b="1" dirty="0"/>
              <a:t>Prototype: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F93B9-7502-B790-818F-AACFE315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33833"/>
            <a:ext cx="9872870" cy="4365522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45720" indent="0">
              <a:buNone/>
            </a:pPr>
            <a:r>
              <a:rPr lang="en-IN" dirty="0"/>
              <a:t>                         </a:t>
            </a:r>
          </a:p>
          <a:p>
            <a:pPr marL="45720" indent="0">
              <a:buNone/>
            </a:pPr>
            <a:r>
              <a:rPr lang="en-IN" dirty="0">
                <a:solidFill>
                  <a:srgbClr val="00B050"/>
                </a:solidFill>
              </a:rPr>
              <a:t>                              </a:t>
            </a:r>
          </a:p>
          <a:p>
            <a:pPr marL="4572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FECCB-9F47-DD7C-6C52-679913F4299F}"/>
              </a:ext>
            </a:extLst>
          </p:cNvPr>
          <p:cNvSpPr txBox="1"/>
          <p:nvPr/>
        </p:nvSpPr>
        <p:spPr>
          <a:xfrm>
            <a:off x="3480619" y="6213987"/>
            <a:ext cx="6204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THIRD REVIEW-V.S.B ENGINEERING COLLEGE,KARUR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42ECE9-6EC9-01C3-E724-2E3FF695A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726730" y="-115773"/>
            <a:ext cx="3883741" cy="763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45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85A2-56B1-1C2E-A829-B91B61023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1" y="701040"/>
            <a:ext cx="9875520" cy="1356360"/>
          </a:xfrm>
        </p:spPr>
        <p:txBody>
          <a:bodyPr/>
          <a:lstStyle/>
          <a:p>
            <a:r>
              <a:rPr lang="en-IN" b="1" dirty="0"/>
              <a:t>Reference: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43389-6F9B-CAAF-F8B7-58058CC63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Ajisegiri</a:t>
            </a:r>
            <a:r>
              <a:rPr lang="en-US" b="1" dirty="0"/>
              <a:t> , E. A. (2025).</a:t>
            </a:r>
            <a:r>
              <a:rPr lang="en-US" dirty="0"/>
              <a:t> "Development of a Smart Grain Storage Silo Using the Internet of Things (IoT) Technology.“</a:t>
            </a:r>
          </a:p>
          <a:p>
            <a:r>
              <a:rPr lang="en-US" b="1" dirty="0"/>
              <a:t>Wanyonyi, E. N. (2025).</a:t>
            </a:r>
            <a:r>
              <a:rPr lang="en-US" dirty="0"/>
              <a:t> "A Smart IoT-Based Real-Time System for Monitoring Storage Conditions of Maize Grains.“</a:t>
            </a:r>
          </a:p>
          <a:p>
            <a:r>
              <a:rPr lang="en-US" b="1" dirty="0"/>
              <a:t>Lydia, J. (2022).</a:t>
            </a:r>
            <a:r>
              <a:rPr lang="en-US" dirty="0"/>
              <a:t> "Automated food grain monitoring system for warehouse storage."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3A8E1-F403-ACB7-AAE8-838F13F8FC28}"/>
              </a:ext>
            </a:extLst>
          </p:cNvPr>
          <p:cNvSpPr txBox="1"/>
          <p:nvPr/>
        </p:nvSpPr>
        <p:spPr>
          <a:xfrm>
            <a:off x="3048000" y="310829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5BF85C-BC62-7472-CD8C-DF9ABF9C8278}"/>
              </a:ext>
            </a:extLst>
          </p:cNvPr>
          <p:cNvSpPr txBox="1"/>
          <p:nvPr/>
        </p:nvSpPr>
        <p:spPr>
          <a:xfrm>
            <a:off x="3264310" y="6302477"/>
            <a:ext cx="6774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THIRD REVIEW-V.S.B ENGINEERING COLLEGE,KARUR.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523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"/>
          <p:cNvSpPr>
            <a:spLocks noGrp="1"/>
          </p:cNvSpPr>
          <p:nvPr>
            <p:ph type="title"/>
          </p:nvPr>
        </p:nvSpPr>
        <p:spPr>
          <a:xfrm>
            <a:off x="398392" y="845573"/>
            <a:ext cx="10718157" cy="6636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Advantages:</a:t>
            </a:r>
            <a:endParaRPr lang="zh-CN" altLang="en-US" sz="4000" b="1" i="0" u="none" strike="noStrike" kern="1200" cap="none" spc="0" baseline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47" name="文本框"/>
          <p:cNvSpPr>
            <a:spLocks noGrp="1"/>
          </p:cNvSpPr>
          <p:nvPr>
            <p:ph type="body" idx="1"/>
          </p:nvPr>
        </p:nvSpPr>
        <p:spPr>
          <a:xfrm>
            <a:off x="1886673" y="1214920"/>
            <a:ext cx="9114980" cy="44281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822960" lvl="3" indent="0" algn="l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None/>
            </a:pPr>
            <a:endParaRPr lang="en-US" altLang="zh-CN" sz="2400" b="0" i="1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z="2400" b="0" i="1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Real-time grain monitoring.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z="2400" b="0" i="1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Automatic alerts &amp; notifications.</a:t>
            </a:r>
          </a:p>
          <a:p>
            <a:pPr marL="228600" indent="-1828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z="2400" b="0" i="1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Prevents grain spoilage &amp; reduces losses.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2400" i="1" dirty="0">
                <a:cs typeface="Lucida Sans" panose="020B0602030504020204"/>
              </a:rPr>
              <a:t>Simple and low-cost compared to earlier models.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2400" i="1" dirty="0">
                <a:cs typeface="Lucida Sans" panose="020B0602030504020204"/>
              </a:rPr>
              <a:t>No manual checking required.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2400" i="1" dirty="0">
                <a:cs typeface="Lucida Sans" panose="020B0602030504020204"/>
              </a:rPr>
              <a:t>Energy-efficient (uses solar power).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2400" i="1" dirty="0">
                <a:cs typeface="Lucida Sans" panose="020B0602030504020204"/>
              </a:rPr>
              <a:t>Easy to install and scalable.</a:t>
            </a:r>
            <a:endParaRPr lang="zh-CN" altLang="en-US" sz="2400" b="0" i="1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824223" y="6012427"/>
            <a:ext cx="6837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THIRD REVIEW-V.S.B ENGINEERING COLLEGE,KARUR.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框"/>
          <p:cNvSpPr>
            <a:spLocks noGrp="1"/>
          </p:cNvSpPr>
          <p:nvPr>
            <p:ph type="title"/>
          </p:nvPr>
        </p:nvSpPr>
        <p:spPr>
          <a:xfrm>
            <a:off x="336754" y="589936"/>
            <a:ext cx="9875520" cy="13563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Applications</a:t>
            </a:r>
            <a:r>
              <a:rPr lang="en-US" altLang="zh-CN" sz="4800" b="1" i="0" u="none" strike="noStrike" kern="1200" cap="none" spc="0" baseline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:</a:t>
            </a:r>
            <a:endParaRPr lang="zh-CN" altLang="en-US" sz="4800" b="1" i="0" u="none" strike="noStrike" kern="1200" cap="none" spc="0" baseline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49" name="文本框"/>
          <p:cNvSpPr>
            <a:spLocks noGrp="1"/>
          </p:cNvSpPr>
          <p:nvPr>
            <p:ph type="body" idx="1"/>
          </p:nvPr>
        </p:nvSpPr>
        <p:spPr>
          <a:xfrm>
            <a:off x="1385446" y="2597764"/>
            <a:ext cx="9872870" cy="268224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>
              <a:buFont typeface="Wingdings" panose="05000000000000000000" pitchFamily="2" charset="2"/>
              <a:buChar char="Ø"/>
            </a:pPr>
            <a:r>
              <a:rPr lang="en-IN" altLang="zh-CN" sz="2800" dirty="0">
                <a:cs typeface="Lucida Sans" panose="020B0602030504020204"/>
              </a:rPr>
              <a:t>System successfully detects environmental changes.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altLang="zh-CN" sz="2800" dirty="0">
                <a:cs typeface="Lucida Sans" panose="020B0602030504020204"/>
              </a:rPr>
              <a:t>Sends immediate alerts via buzzer and mobile notification.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altLang="zh-CN" sz="2800" dirty="0">
                <a:cs typeface="Lucida Sans" panose="020B0602030504020204"/>
              </a:rPr>
              <a:t>Provides an efficient, affordable alternative to costly automation systems.</a:t>
            </a:r>
            <a:endParaRPr lang="zh-CN" altLang="en-US" sz="2800" i="0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45360" y="6084570"/>
            <a:ext cx="7378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THIRD REVIEW-V.S.B ENGINEERING COLLEGE,KARUR.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"/>
          <p:cNvSpPr>
            <a:spLocks noGrp="1"/>
          </p:cNvSpPr>
          <p:nvPr>
            <p:ph type="title"/>
          </p:nvPr>
        </p:nvSpPr>
        <p:spPr>
          <a:xfrm>
            <a:off x="4109206" y="2521352"/>
            <a:ext cx="9875520" cy="13563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4400" b="1" i="1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   </a:t>
            </a:r>
            <a:r>
              <a:rPr lang="en-US" altLang="zh-CN" sz="4400" b="1" i="1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Any Queries?</a:t>
            </a:r>
            <a:endParaRPr lang="zh-CN" altLang="en-US" sz="4400" b="1" i="1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312161" y="5867400"/>
            <a:ext cx="6934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THIRD REVIEW-V.S.B ENGINEERING COLLEGE,KARUR.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"/>
          <p:cNvSpPr>
            <a:spLocks noGrp="1"/>
          </p:cNvSpPr>
          <p:nvPr>
            <p:ph type="title"/>
          </p:nvPr>
        </p:nvSpPr>
        <p:spPr>
          <a:xfrm>
            <a:off x="3836670" y="2381885"/>
            <a:ext cx="10367010" cy="13563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4400" b="1" i="1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       </a:t>
            </a:r>
            <a:r>
              <a:rPr lang="en-US" altLang="zh-CN" sz="4400" b="1" i="1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Thank</a:t>
            </a:r>
            <a:r>
              <a:rPr lang="en-US" altLang="zh-CN" sz="4400" b="1" i="1" u="none" strike="noStrike" kern="1200" cap="none" spc="0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 </a:t>
            </a:r>
            <a:r>
              <a:rPr lang="en-US" altLang="zh-CN" sz="4400" b="1" i="1" u="none" strike="noStrike" kern="1200" cap="none" spc="0" baseline="0" dirty="0">
                <a:solidFill>
                  <a:schemeClr val="tx1"/>
                </a:solidFill>
                <a:latin typeface="Corbel" panose="020B0503020204020204" charset="0"/>
                <a:ea typeface="SimSun" panose="02010600030101010101" pitchFamily="2" charset="-122"/>
                <a:cs typeface="Lucida Sans" panose="020B0602030504020204"/>
              </a:rPr>
              <a:t>you!!</a:t>
            </a:r>
            <a:endParaRPr lang="zh-CN" altLang="en-US" sz="4400" b="1" i="1" u="none" strike="noStrike" kern="1200" cap="none" spc="0" baseline="0" dirty="0">
              <a:solidFill>
                <a:schemeClr val="tx1"/>
              </a:solidFill>
              <a:latin typeface="Corbel" panose="020B050302020402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108325" y="6328410"/>
            <a:ext cx="6057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376295" y="6051550"/>
            <a:ext cx="6636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THIRD REVIEW-V.S.B ENGINEERING COLLEGE,KARUR</a:t>
            </a:r>
            <a:r>
              <a:rPr lang="en-I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Basis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164</TotalTime>
  <Words>1084</Words>
  <Application>Microsoft Office PowerPoint</Application>
  <PresentationFormat>Widescreen</PresentationFormat>
  <Paragraphs>138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Baskerville Old Face</vt:lpstr>
      <vt:lpstr>Corbel</vt:lpstr>
      <vt:lpstr>Droid Sans</vt:lpstr>
      <vt:lpstr>Lucida Sans</vt:lpstr>
      <vt:lpstr>Wingdings</vt:lpstr>
      <vt:lpstr>Basis</vt:lpstr>
      <vt:lpstr>Stored GRAIN protection &amp; spoilage alert system</vt:lpstr>
      <vt:lpstr>Introduction (Problem Identification):</vt:lpstr>
      <vt:lpstr>Objectives :</vt:lpstr>
      <vt:lpstr>Abstract:</vt:lpstr>
      <vt:lpstr>Existing System:</vt:lpstr>
      <vt:lpstr>Proposed System:</vt:lpstr>
      <vt:lpstr>Working Principle:</vt:lpstr>
      <vt:lpstr>Block Diagram:</vt:lpstr>
      <vt:lpstr>Components Used:</vt:lpstr>
      <vt:lpstr>Microcontroller:</vt:lpstr>
      <vt:lpstr>DHT22 Sensor:</vt:lpstr>
      <vt:lpstr>Blynk App:</vt:lpstr>
      <vt:lpstr>Technical Approach:</vt:lpstr>
      <vt:lpstr>Viability and Feasibility:</vt:lpstr>
      <vt:lpstr>Prototype:</vt:lpstr>
      <vt:lpstr>Reference:</vt:lpstr>
      <vt:lpstr>Advantages:</vt:lpstr>
      <vt:lpstr>Applications:</vt:lpstr>
      <vt:lpstr>    Any Queries?</vt:lpstr>
      <vt:lpstr>        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Kesiha Karuppusamy</dc:creator>
  <cp:lastModifiedBy>MARIYAMMA S</cp:lastModifiedBy>
  <cp:revision>10</cp:revision>
  <dcterms:created xsi:type="dcterms:W3CDTF">2025-08-31T07:42:00Z</dcterms:created>
  <dcterms:modified xsi:type="dcterms:W3CDTF">2026-03-09T09:57:10Z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72FCFE7EF6CA497281DA4FB5E5015D1F_12</vt:lpwstr>
  </property>
  <property fmtid="{D5CDD505-2E9C-101B-9397-08002B2CF9AE}" pid="3" name="KSOProductBuildVer">
    <vt:lpwstr>1033-12.2.0.21931</vt:lpwstr>
  </property>
</Properties>
</file>